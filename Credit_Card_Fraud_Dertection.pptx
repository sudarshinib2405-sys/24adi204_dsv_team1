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EAC66-2C3D-4903-A2CD-B60FBCDFD449}" v="9" dt="2026-07-30T06:58:15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arshini B" userId="4ab4aec75a6bce01" providerId="LiveId" clId="{B08486ED-1376-4A24-81BE-FEF5799F93C2}"/>
    <pc:docChg chg="custSel modSld">
      <pc:chgData name="Sudarshini B" userId="4ab4aec75a6bce01" providerId="LiveId" clId="{B08486ED-1376-4A24-81BE-FEF5799F93C2}" dt="2026-07-30T07:07:46.710" v="274" actId="20577"/>
      <pc:docMkLst>
        <pc:docMk/>
      </pc:docMkLst>
      <pc:sldChg chg="modSp mod">
        <pc:chgData name="Sudarshini B" userId="4ab4aec75a6bce01" providerId="LiveId" clId="{B08486ED-1376-4A24-81BE-FEF5799F93C2}" dt="2026-07-30T06:23:50.318" v="47" actId="115"/>
        <pc:sldMkLst>
          <pc:docMk/>
          <pc:sldMk cId="0" sldId="258"/>
        </pc:sldMkLst>
        <pc:spChg chg="mod">
          <ac:chgData name="Sudarshini B" userId="4ab4aec75a6bce01" providerId="LiveId" clId="{B08486ED-1376-4A24-81BE-FEF5799F93C2}" dt="2026-07-30T06:21:53.845" v="38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darshini B" userId="4ab4aec75a6bce01" providerId="LiveId" clId="{B08486ED-1376-4A24-81BE-FEF5799F93C2}" dt="2026-07-30T06:23:50.318" v="47" actId="115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Sudarshini B" userId="4ab4aec75a6bce01" providerId="LiveId" clId="{B08486ED-1376-4A24-81BE-FEF5799F93C2}" dt="2026-07-30T06:33:59.773" v="107" actId="403"/>
        <pc:sldMkLst>
          <pc:docMk/>
          <pc:sldMk cId="0" sldId="259"/>
        </pc:sldMkLst>
        <pc:spChg chg="del mod">
          <ac:chgData name="Sudarshini B" userId="4ab4aec75a6bce01" providerId="LiveId" clId="{B08486ED-1376-4A24-81BE-FEF5799F93C2}" dt="2026-07-30T06:27:44.582" v="58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Sudarshini B" userId="4ab4aec75a6bce01" providerId="LiveId" clId="{B08486ED-1376-4A24-81BE-FEF5799F93C2}" dt="2026-07-30T06:33:59.773" v="107" actId="403"/>
          <ac:spMkLst>
            <pc:docMk/>
            <pc:sldMk cId="0" sldId="259"/>
            <ac:spMk id="3" creationId="{BC396580-6FD7-555B-54FD-804EBD3CA6AB}"/>
          </ac:spMkLst>
        </pc:spChg>
        <pc:spChg chg="del mod">
          <ac:chgData name="Sudarshini B" userId="4ab4aec75a6bce01" providerId="LiveId" clId="{B08486ED-1376-4A24-81BE-FEF5799F93C2}" dt="2026-07-30T06:27:31.496" v="53"/>
          <ac:spMkLst>
            <pc:docMk/>
            <pc:sldMk cId="0" sldId="259"/>
            <ac:spMk id="4" creationId="{FAA24543-6757-871A-95DB-723231892C52}"/>
          </ac:spMkLst>
        </pc:spChg>
      </pc:sldChg>
      <pc:sldChg chg="addSp modSp mod">
        <pc:chgData name="Sudarshini B" userId="4ab4aec75a6bce01" providerId="LiveId" clId="{B08486ED-1376-4A24-81BE-FEF5799F93C2}" dt="2026-07-30T07:01:32.935" v="241" actId="20577"/>
        <pc:sldMkLst>
          <pc:docMk/>
          <pc:sldMk cId="0" sldId="260"/>
        </pc:sldMkLst>
        <pc:spChg chg="mod">
          <ac:chgData name="Sudarshini B" userId="4ab4aec75a6bce01" providerId="LiveId" clId="{B08486ED-1376-4A24-81BE-FEF5799F93C2}" dt="2026-07-30T07:01:32.935" v="241" actId="20577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Sudarshini B" userId="4ab4aec75a6bce01" providerId="LiveId" clId="{B08486ED-1376-4A24-81BE-FEF5799F93C2}" dt="2026-07-30T07:00:48.951" v="239" actId="1076"/>
          <ac:spMkLst>
            <pc:docMk/>
            <pc:sldMk cId="0" sldId="260"/>
            <ac:spMk id="4" creationId="{6190A92C-043C-A696-C3C8-5E4EC9095504}"/>
          </ac:spMkLst>
        </pc:spChg>
      </pc:sldChg>
      <pc:sldChg chg="modSp mod">
        <pc:chgData name="Sudarshini B" userId="4ab4aec75a6bce01" providerId="LiveId" clId="{B08486ED-1376-4A24-81BE-FEF5799F93C2}" dt="2026-07-30T07:07:46.710" v="274" actId="20577"/>
        <pc:sldMkLst>
          <pc:docMk/>
          <pc:sldMk cId="0" sldId="262"/>
        </pc:sldMkLst>
        <pc:spChg chg="mod">
          <ac:chgData name="Sudarshini B" userId="4ab4aec75a6bce01" providerId="LiveId" clId="{B08486ED-1376-4A24-81BE-FEF5799F93C2}" dt="2026-07-30T07:07:46.710" v="274" actId="20577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9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3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7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69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53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8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6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2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8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78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6305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61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57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76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64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9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777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412" y="841642"/>
            <a:ext cx="10362895" cy="381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rPr sz="5400" dirty="0">
                <a:latin typeface="Bodoni MT Black" panose="02070A03080606020203" pitchFamily="18" charset="0"/>
              </a:rPr>
              <a:t>Credit Card Fraud Detection</a:t>
            </a:r>
            <a:endParaRPr lang="en-IN" sz="5400" dirty="0">
              <a:latin typeface="Bodoni MT Black" panose="02070A03080606020203" pitchFamily="18" charset="0"/>
            </a:endParaRPr>
          </a:p>
          <a:p>
            <a:pPr algn="ctr">
              <a:spcAft>
                <a:spcPts val="12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endParaRPr sz="5400" dirty="0">
              <a:latin typeface="Bauhaus 93" panose="04030905020B02020C02" pitchFamily="82" charset="0"/>
            </a:endParaRPr>
          </a:p>
          <a:p>
            <a:pPr>
              <a:spcAft>
                <a:spcPts val="14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rPr dirty="0"/>
              <a:t>Team Number: 1</a:t>
            </a:r>
          </a:p>
          <a:p>
            <a:pPr>
              <a:spcAft>
                <a:spcPts val="600"/>
              </a:spcAft>
              <a:defRPr sz="1500" b="1">
                <a:solidFill>
                  <a:srgbClr val="94A3B8"/>
                </a:solidFill>
                <a:latin typeface="Arial"/>
              </a:defRPr>
            </a:pPr>
            <a:r>
              <a:rPr dirty="0"/>
              <a:t>Team Members: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•  Suhani Parveen (25BAD119)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•  Sudarshini B (25BAD116)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•  Thanesha V (25BAD125)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•  Shreya (25BAD105)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EFC42-0A8D-97C7-3B85-D9EA103B8574}"/>
              </a:ext>
            </a:extLst>
          </p:cNvPr>
          <p:cNvSpPr txBox="1"/>
          <p:nvPr/>
        </p:nvSpPr>
        <p:spPr>
          <a:xfrm>
            <a:off x="4601498" y="1602659"/>
            <a:ext cx="63023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Course: 24ADI204-Data Science and Visualization</a:t>
            </a:r>
          </a:p>
          <a:p>
            <a:r>
              <a:rPr lang="en-IN" sz="2000" dirty="0"/>
              <a:t>Faculty Mentor: Ms. </a:t>
            </a:r>
            <a:r>
              <a:rPr lang="en-IN" sz="2000" dirty="0" err="1"/>
              <a:t>Rupashini</a:t>
            </a:r>
            <a:r>
              <a:rPr lang="en-IN" sz="2000" dirty="0"/>
              <a:t> PR</a:t>
            </a:r>
          </a:p>
          <a:p>
            <a:r>
              <a:rPr lang="en-IN" sz="2000" dirty="0"/>
              <a:t>Department of Artificial Intelligence and Data Science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7495" y="903093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•  Digital Payment Systems Growth</a:t>
            </a:r>
          </a:p>
          <a:p>
            <a:pPr>
              <a:spcBef>
                <a:spcPts val="200"/>
              </a:spcBef>
              <a:defRPr sz="1350">
                <a:solidFill>
                  <a:srgbClr val="E2E8F0"/>
                </a:solidFill>
                <a:latin typeface="Arial"/>
              </a:defRPr>
            </a:pPr>
            <a:r>
              <a:t>The rapid growth of digital payment systems has increased transaction volumes globally, making credit card fraud detection an important financial challenge.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t>•  The Imbalance Challenge</a:t>
            </a:r>
          </a:p>
          <a:p>
            <a:pPr>
              <a:spcBef>
                <a:spcPts val="200"/>
              </a:spcBef>
              <a:defRPr sz="1350">
                <a:solidFill>
                  <a:srgbClr val="E2E8F0"/>
                </a:solidFill>
                <a:latin typeface="Arial"/>
              </a:defRPr>
            </a:pPr>
            <a:r>
              <a:t>Fraudulent transactions are extremely rare compared with legitimate ones. A naive model can achieve high accuracy simply by predicting all transactions as legitimate, yet completely fail to identify critical fraud cases.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t>•  Machine Learning Task</a:t>
            </a:r>
          </a:p>
          <a:p>
            <a:pPr>
              <a:spcBef>
                <a:spcPts val="200"/>
              </a:spcBef>
              <a:defRPr sz="1350">
                <a:solidFill>
                  <a:srgbClr val="E2E8F0"/>
                </a:solidFill>
                <a:latin typeface="Arial"/>
              </a:defRPr>
            </a:pPr>
            <a:r>
              <a:t>In our project, fraud detection is framed as a supervised binary classification task to predict transaction risk accurately.</a:t>
            </a:r>
          </a:p>
          <a:p>
            <a:pPr>
              <a:spcBef>
                <a:spcPts val="12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t>•  AI-Powered Visual Insight Engine</a:t>
            </a:r>
          </a:p>
          <a:p>
            <a:pPr>
              <a:spcBef>
                <a:spcPts val="200"/>
              </a:spcBef>
              <a:defRPr sz="1350">
                <a:solidFill>
                  <a:srgbClr val="E2E8F0"/>
                </a:solidFill>
                <a:latin typeface="Arial"/>
              </a:defRPr>
            </a:pPr>
            <a:r>
              <a:t>We develop an AI-Powered Visual Insight Engine combining Data Engineering, Statistical Analysis, Machine Learning, and Interactive Visualization to identify hidden transaction patterns and transform complex financial data into actionable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672" y="226814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u="sng" dirty="0"/>
              <a:t>Problem Statement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6124" y="671691"/>
            <a:ext cx="1072865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rapid growth of digital payments has significantly increased credit card fraud, resulting in substantial financial losses for banks, payment providers, and customers. Traditional rule-based systems often struggle to identify evolving fraud patterns, leading to delayed detection and a high number of false alerts. Develop a business-oriented fraud detection system that leverages Data Science, Machine Learning, and Interactive Visualization to accurately detect fraudulent transactions, reduce financial losses, and support faster, data-driven business decision-making.</a:t>
            </a:r>
            <a:endParaRPr lang="en-IN" dirty="0"/>
          </a:p>
          <a:p>
            <a:r>
              <a:rPr lang="en-IN" b="1" u="sng" dirty="0"/>
              <a:t>Key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Highly Imbalanced Dataset </a:t>
            </a:r>
            <a:r>
              <a:rPr lang="en-US" b="1" dirty="0"/>
              <a:t>– Fraudulent transactions represent only a small percentage of total transactions, making accurate model training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Evolving Fraud Patterns </a:t>
            </a:r>
            <a:r>
              <a:rPr lang="en-US" b="1" dirty="0"/>
              <a:t>– Fraudsters continuously change their techniques, requiring adaptable and intelligent detection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High False Positives </a:t>
            </a:r>
            <a:r>
              <a:rPr lang="en-US" b="1" dirty="0"/>
              <a:t>– Incorrectly classifying legitimate transactions as fraud can inconvenience customers and reduce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Large-Scale Data Processing </a:t>
            </a:r>
            <a:r>
              <a:rPr lang="en-US" b="1" dirty="0"/>
              <a:t>– Financial institutions generate millions of transactions daily, requiring efficient data processing and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Data Quality &amp; Preprocessing </a:t>
            </a:r>
            <a:r>
              <a:rPr lang="en-US" b="1" dirty="0"/>
              <a:t>– Missing values, duplicate records, and categorical variables must be handled before model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Real-Time Detection Requirement</a:t>
            </a:r>
            <a:r>
              <a:rPr lang="en-US" b="1" dirty="0"/>
              <a:t> – Fraud must be identified quickly to prevent financial losses and unauthorized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Business Decision Support </a:t>
            </a:r>
            <a:r>
              <a:rPr lang="en-US" b="1" dirty="0"/>
              <a:t>– Raw transaction data must be transformed into meaningful insights through interactive dashboards and visualizations.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396580-6FD7-555B-54FD-804EBD3CA6AB}"/>
              </a:ext>
            </a:extLst>
          </p:cNvPr>
          <p:cNvSpPr txBox="1"/>
          <p:nvPr/>
        </p:nvSpPr>
        <p:spPr>
          <a:xfrm>
            <a:off x="1311621" y="131454"/>
            <a:ext cx="756690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Target Users &amp; Business Objectives:</a:t>
            </a:r>
            <a:endParaRPr lang="en-IN" sz="2000" b="1" u="sng" dirty="0"/>
          </a:p>
          <a:p>
            <a:r>
              <a:rPr lang="en-IN" sz="2000" b="1" u="sng" dirty="0"/>
              <a:t>Target Users.</a:t>
            </a:r>
          </a:p>
          <a:p>
            <a:r>
              <a:rPr lang="en-IN" sz="2000" u="sng" dirty="0"/>
              <a:t>Primary Users: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Banks &amp; Financial Institutions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Credit Card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Payment Gateway Providers</a:t>
            </a:r>
          </a:p>
          <a:p>
            <a:r>
              <a:rPr lang="en-IN" sz="2000" u="sng" dirty="0"/>
              <a:t>Secondary Users: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Risk Analysts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Fraud Investigation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Teams Business Managers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Compliance Officers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Data Analysts</a:t>
            </a:r>
          </a:p>
          <a:p>
            <a:r>
              <a:rPr lang="en-IN" sz="2000" u="sng" dirty="0"/>
              <a:t>Business 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Detect fraudulent transactions with high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Reduce financial losses caused by fraud.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Minimize false positives and false negatives.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Improve customer trust and transaction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Generate actionable business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Enable faster fraud investigation and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2127" y="69214"/>
            <a:ext cx="1072865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sz="2000" u="sng" dirty="0"/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2127" y="427031"/>
            <a:ext cx="111556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Dataset Source: Kaggle – Credit Card Fraud Detection Dataset (kartik2112)</a:t>
            </a:r>
          </a:p>
          <a:p>
            <a:r>
              <a:rPr lang="en-IN" u="sng" dirty="0"/>
              <a:t>Dataset 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Approximately 1.85 Million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23 Data Columns (including target variable)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Binary Classification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Real-world Financial Transaction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Highly Imbalanced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Training Set: 1,296,675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Testing Set: 555,719 transactions</a:t>
            </a:r>
          </a:p>
          <a:p>
            <a:r>
              <a:rPr lang="en-IN" u="sng" dirty="0"/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0A92C-043C-A696-C3C8-5E4EC9095504}"/>
              </a:ext>
            </a:extLst>
          </p:cNvPr>
          <p:cNvSpPr txBox="1"/>
          <p:nvPr/>
        </p:nvSpPr>
        <p:spPr>
          <a:xfrm>
            <a:off x="1282127" y="3251185"/>
            <a:ext cx="88785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Transaction Date &amp;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Transaction Amount (amt)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Merchant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Transaction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Customer Demographics (Gender, DOB, Job)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Customer Location (City, State)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Merchant Location &amp; Geographic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Target Variable: </a:t>
            </a:r>
            <a:r>
              <a:rPr lang="en-IN" dirty="0" err="1"/>
              <a:t>is_fraud</a:t>
            </a:r>
            <a:r>
              <a:rPr lang="en-IN" dirty="0"/>
              <a:t> (Fraud / Legitimate)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9507" y="1011248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Tools &amp;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331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rPr dirty="0"/>
              <a:t>•  Programming &amp; Core Analytics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Python 3.x, NumPy, Pandas</a:t>
            </a:r>
          </a:p>
          <a:p>
            <a:pPr>
              <a:spcBef>
                <a:spcPts val="14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rPr dirty="0"/>
              <a:t>•  Data Visualization &amp; Analytics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Matplotlib, Seaborn, </a:t>
            </a:r>
            <a:r>
              <a:rPr dirty="0" err="1"/>
              <a:t>Plotly</a:t>
            </a:r>
            <a:endParaRPr dirty="0"/>
          </a:p>
          <a:p>
            <a:pPr>
              <a:spcBef>
                <a:spcPts val="14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rPr dirty="0"/>
              <a:t>•  Preprocessing &amp; Machine Learning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Scikit-learn (</a:t>
            </a:r>
            <a:r>
              <a:rPr dirty="0" err="1"/>
              <a:t>StandardScaler</a:t>
            </a:r>
            <a:r>
              <a:rPr dirty="0"/>
              <a:t>, PCA, Stratified K-Fold, </a:t>
            </a:r>
            <a:r>
              <a:rPr dirty="0" err="1"/>
              <a:t>RandomizedSearchCV</a:t>
            </a:r>
            <a:r>
              <a:rPr dirty="0"/>
              <a:t>)</a:t>
            </a:r>
          </a:p>
          <a:p>
            <a:pPr>
              <a:spcBef>
                <a:spcPts val="14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rPr dirty="0"/>
              <a:t>•  Imbalanced Learning &amp; Classifier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SMOTE (imbalanced-learn), </a:t>
            </a:r>
            <a:r>
              <a:rPr dirty="0" err="1"/>
              <a:t>XGBoost</a:t>
            </a:r>
            <a:endParaRPr dirty="0"/>
          </a:p>
          <a:p>
            <a:pPr>
              <a:spcBef>
                <a:spcPts val="14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rPr dirty="0"/>
              <a:t>•  Dashboard &amp; Version Control</a:t>
            </a:r>
          </a:p>
          <a:p>
            <a:pPr>
              <a:spcBef>
                <a:spcPts val="3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 err="1"/>
              <a:t>Streamlit</a:t>
            </a:r>
            <a:r>
              <a:rPr lang="en-IN" dirty="0"/>
              <a:t> </a:t>
            </a:r>
            <a:r>
              <a:rPr dirty="0"/>
              <a:t>,</a:t>
            </a:r>
            <a:r>
              <a:rPr lang="en-IN" dirty="0"/>
              <a:t> </a:t>
            </a:r>
            <a:r>
              <a:rPr lang="en-IN" dirty="0" err="1"/>
              <a:t>Plotly</a:t>
            </a:r>
            <a:r>
              <a:rPr lang="en-IN" dirty="0"/>
              <a:t>,</a:t>
            </a:r>
            <a:r>
              <a:rPr dirty="0"/>
              <a:t>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4904" y="639098"/>
            <a:ext cx="10634265" cy="5160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u="sng" dirty="0"/>
              <a:t>Methodology</a:t>
            </a:r>
            <a:endParaRPr lang="en-IN" u="sng" dirty="0"/>
          </a:p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rPr lang="en-IN" dirty="0"/>
              <a:t>End-to-End Pipeline Execution Flow:</a:t>
            </a:r>
          </a:p>
          <a:p>
            <a:pPr>
              <a:spcBef>
                <a:spcPts val="400"/>
              </a:spcBef>
              <a:spcAft>
                <a:spcPts val="1600"/>
              </a:spcAft>
              <a:defRPr sz="1200">
                <a:solidFill>
                  <a:srgbClr val="38BDF8"/>
                </a:solidFill>
                <a:latin typeface="Arial"/>
              </a:defRPr>
            </a:pPr>
            <a:r>
              <a:rPr lang="en-IN" sz="1400" dirty="0"/>
              <a:t>Credit Card Dataset ➔ Data Ingestion ➔ Data Quality Assessment ➔Data Cleaning &amp; Preprocessing➔ Outlier Detection (IQR/Z-Score) EDA➔ Statistical Analysis ➔ Feature Scaling (</a:t>
            </a:r>
            <a:r>
              <a:rPr lang="en-IN" sz="1400" dirty="0" err="1"/>
              <a:t>StandardScaler</a:t>
            </a:r>
            <a:r>
              <a:rPr lang="en-IN" sz="1400" dirty="0"/>
              <a:t> on </a:t>
            </a:r>
            <a:r>
              <a:rPr lang="en-IN" sz="1400"/>
              <a:t>Numerical Features) </a:t>
            </a:r>
            <a:r>
              <a:rPr lang="en-IN" sz="1400" dirty="0"/>
              <a:t>➔ Correlation Analysis </a:t>
            </a:r>
            <a:r>
              <a:rPr lang="en-IN" sz="1400"/>
              <a:t>➔ SMOTE </a:t>
            </a:r>
            <a:r>
              <a:rPr lang="en-IN" sz="1400" dirty="0"/>
              <a:t>Resampling ➔ Stratified K-Fold CV ➔ </a:t>
            </a:r>
            <a:r>
              <a:rPr lang="en-IN" sz="1400" dirty="0" err="1"/>
              <a:t>RandomizedSearchCV</a:t>
            </a:r>
            <a:r>
              <a:rPr lang="en-IN" sz="1400" dirty="0"/>
              <a:t> ➔ </a:t>
            </a:r>
            <a:r>
              <a:rPr lang="en-IN" sz="1400" dirty="0" err="1"/>
              <a:t>XGBoost</a:t>
            </a:r>
            <a:r>
              <a:rPr lang="en-IN" sz="1400" dirty="0"/>
              <a:t> Classifier ➔ Threshold Optimization ➔Model Evaluation and  Interactive </a:t>
            </a:r>
            <a:r>
              <a:rPr lang="en-IN" sz="1400" dirty="0" err="1"/>
              <a:t>Streamlit</a:t>
            </a:r>
            <a:r>
              <a:rPr lang="en-IN" sz="1400" dirty="0"/>
              <a:t> Dashboard</a:t>
            </a:r>
            <a:endParaRPr lang="en-IN" dirty="0"/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Stage 1 – Data Engineering &amp; Quality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Data Ingestion → Data Quality Report Generation → Missing/Duplicate Removal → Outlier Detection (IQR / Z-Score)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Stage 2 – Exploratory Data Analysis &amp; Statistical </a:t>
            </a:r>
            <a:r>
              <a:rPr lang="en-IN" dirty="0" err="1"/>
              <a:t>AnalysisExploratory</a:t>
            </a:r>
            <a:r>
              <a:rPr lang="en-IN" dirty="0"/>
              <a:t> Data Analysis (EDA) → Descriptive Statistics → Distribution Analysis → Feature Scaling (</a:t>
            </a:r>
            <a:r>
              <a:rPr lang="en-IN" dirty="0" err="1"/>
              <a:t>StandardScaler</a:t>
            </a:r>
            <a:r>
              <a:rPr lang="en-IN" dirty="0"/>
              <a:t> on Time &amp; Amount)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Stage 3 – Advanced Analytics &amp; Machine Learning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Correlation Analysis → PCA Analysis → SMOTE (Synthetic Oversampling) → Stratified K-Fold Cross Validation → </a:t>
            </a:r>
            <a:r>
              <a:rPr lang="en-IN" dirty="0" err="1"/>
              <a:t>RandomizedSearchCV</a:t>
            </a:r>
            <a:r>
              <a:rPr lang="en-IN" dirty="0"/>
              <a:t> → </a:t>
            </a:r>
            <a:r>
              <a:rPr lang="en-IN" dirty="0" err="1"/>
              <a:t>XGBoost</a:t>
            </a:r>
            <a:r>
              <a:rPr lang="en-IN" dirty="0"/>
              <a:t> Model Training → Threshold Optimization → Model Evaluation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Stage 4 – Narrative Dashboard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  <a:latin typeface="Arial"/>
              </a:defRPr>
            </a:pPr>
            <a:r>
              <a:rPr lang="en-IN" dirty="0"/>
              <a:t>Interactive </a:t>
            </a:r>
            <a:r>
              <a:rPr lang="en-IN" dirty="0" err="1"/>
              <a:t>Streamlit</a:t>
            </a:r>
            <a:r>
              <a:rPr lang="en-IN" dirty="0"/>
              <a:t> Dashboard → Fraud Prediction → Business Insights &amp; Visualizations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346" y="80454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Technical Justification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803409"/>
              </p:ext>
            </p:extLst>
          </p:nvPr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3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BBF24"/>
                          </a:solidFill>
                          <a:latin typeface="Arial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BBF24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BBF24"/>
                          </a:solidFill>
                          <a:latin typeface="Arial"/>
                        </a:defRPr>
                      </a:pPr>
                      <a:r>
                        <a:t>Why We Use 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StandardScaler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Feature Scaling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Standardizes Time and Amount for analysis/preprocessing.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Correlation Analysis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Feature Analysis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Identifies relationships and possible multicollinearity.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PCA-Based Analysis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Dimensionality Analysis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Studies explained variance and visualizes the existing PCA-transformed feature space.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Class Imbalance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Generates synthetic minority-class samples to improve learning of the rare fraud class.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Stratified K-Fold CV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Preserves class distribution across validation folds.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RandomizedSearchCV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Hyperparameter Tuning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Efficiently searches suitable XGBoost parameters.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Binary Classification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Captures complex nonlinear relationships and feature interactions.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Threshold Optimization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Decision Optimization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Balances Recall and false positives.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rPr dirty="0" err="1"/>
                        <a:t>Streamlit</a:t>
                      </a:r>
                      <a:r>
                        <a:rPr dirty="0"/>
                        <a:t> </a:t>
                      </a:r>
                      <a:r>
                        <a:rPr lang="en-IN" dirty="0"/>
                        <a:t>&amp;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Plotly</a:t>
                      </a:r>
                      <a:endParaRPr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dirty="0"/>
                        <a:t>Creates interactive visual storytelling and decision support.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8333" y="696615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Dashboard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842" y="1071716"/>
            <a:ext cx="1072865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The interactive </a:t>
            </a:r>
            <a:r>
              <a:rPr lang="en-IN" sz="1600" dirty="0" err="1"/>
              <a:t>Streamlit</a:t>
            </a:r>
            <a:r>
              <a:rPr lang="en-IN" sz="1600" dirty="0"/>
              <a:t> &amp; </a:t>
            </a:r>
            <a:r>
              <a:rPr lang="en-IN" sz="1600" dirty="0" err="1"/>
              <a:t>Plotly</a:t>
            </a:r>
            <a:r>
              <a:rPr lang="en-IN" sz="1600" dirty="0"/>
              <a:t> dashboard transforms raw transaction data into meaningful insights through interactive visualizations, real-time fraud prediction, and business analytics.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Dashboard Features: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📊 Fraud Overview: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     Total Transactions, Fraud Count, Legitimate Transactions, Fraud Rate (%)📈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Transaction Analysis: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     Transaction Trends, Amount Analysis, High-Value Fraud Detection📉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Advanced Analytics: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     Correlation Heatmap, Feature Importance, PCA Visualization🎯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Model Performance: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     Accuracy, Precision, Recall, F1-Score, ROC-AUC, Confusion Matrix🤖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Fraud Prediction: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     Transaction Input, Fraud Probability, Risk Level Indicator🎛️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Interactive Filters: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     Date &amp; Time, Transaction Amount, Fraud Status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📄 Reports: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IN" sz="1600" dirty="0"/>
              <a:t>      Download Prediction Results (CSV/PDF)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1" y="780812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Expected Outcome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7F780-00BC-F313-2910-1557DDF6C28B}"/>
              </a:ext>
            </a:extLst>
          </p:cNvPr>
          <p:cNvSpPr txBox="1"/>
          <p:nvPr/>
        </p:nvSpPr>
        <p:spPr>
          <a:xfrm>
            <a:off x="1219201" y="1417320"/>
            <a:ext cx="701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Accurate fraud detection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Improved Recall and F1-Score using SMOTE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Interactive dashboard for fraud monitoring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Better understanding of fraud patterns through EDA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Support for faster decision-making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97</TotalTime>
  <Words>1093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Bauhaus 93</vt:lpstr>
      <vt:lpstr>Bodoni MT Black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Sudarshini</dc:creator>
  <cp:keywords/>
  <dc:description>generated using python-pptx</dc:description>
  <cp:lastModifiedBy>Sudarshini B</cp:lastModifiedBy>
  <cp:revision>3</cp:revision>
  <dcterms:created xsi:type="dcterms:W3CDTF">2013-01-27T09:14:16Z</dcterms:created>
  <dcterms:modified xsi:type="dcterms:W3CDTF">2026-07-30T07:07:52Z</dcterms:modified>
  <cp:category/>
</cp:coreProperties>
</file>